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57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4.png"/><Relationship Id="rId7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2.png"/><Relationship Id="rId12" Type="http://schemas.openxmlformats.org/officeDocument/2006/relationships/image" Target="../media/image8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75.png"/><Relationship Id="rId26" Type="http://schemas.openxmlformats.org/officeDocument/2006/relationships/image" Target="../media/image108.png"/><Relationship Id="rId3" Type="http://schemas.openxmlformats.org/officeDocument/2006/relationships/image" Target="../media/image87.png"/><Relationship Id="rId21" Type="http://schemas.openxmlformats.org/officeDocument/2006/relationships/image" Target="../media/image103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6.png"/><Relationship Id="rId25" Type="http://schemas.openxmlformats.org/officeDocument/2006/relationships/image" Target="../media/image107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6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5.png"/><Relationship Id="rId10" Type="http://schemas.openxmlformats.org/officeDocument/2006/relationships/image" Target="../media/image94.png"/><Relationship Id="rId19" Type="http://schemas.openxmlformats.org/officeDocument/2006/relationships/image" Target="../media/image101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0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2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0.png"/><Relationship Id="rId3" Type="http://schemas.openxmlformats.org/officeDocument/2006/relationships/image" Target="../media/image71.png"/><Relationship Id="rId7" Type="http://schemas.openxmlformats.org/officeDocument/2006/relationships/image" Target="../media/image125.png"/><Relationship Id="rId12" Type="http://schemas.openxmlformats.org/officeDocument/2006/relationships/image" Target="../media/image111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129.png"/><Relationship Id="rId5" Type="http://schemas.openxmlformats.org/officeDocument/2006/relationships/image" Target="../media/image124.png"/><Relationship Id="rId10" Type="http://schemas.openxmlformats.org/officeDocument/2006/relationships/image" Target="../media/image128.png"/><Relationship Id="rId4" Type="http://schemas.openxmlformats.org/officeDocument/2006/relationships/image" Target="../media/image7.png"/><Relationship Id="rId9" Type="http://schemas.openxmlformats.org/officeDocument/2006/relationships/image" Target="../media/image127.png"/><Relationship Id="rId14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1980" y="1638299"/>
            <a:ext cx="10667733" cy="761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Montserrat"/>
              </a:rPr>
              <a:t>Application Banque en Ligne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2" y="2628900"/>
            <a:ext cx="1219169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1980" y="2971800"/>
            <a:ext cx="1066773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B8D4E3"/>
                </a:solidFill>
                <a:latin typeface="Roboto"/>
              </a:rPr>
              <a:t>Projet Java - Architecture MVC &amp; Programmation Orientée 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4190999"/>
            <a:ext cx="106677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FFFFFF"/>
                </a:solidFill>
                <a:latin typeface="Roboto"/>
              </a:rPr>
              <a:t> </a:t>
            </a:r>
            <a:r>
              <a:rPr sz="1196" b="0">
                <a:solidFill>
                  <a:srgbClr val="37DCF2"/>
                </a:solidFill>
                <a:latin typeface="Roboto"/>
              </a:rPr>
              <a:t>Étudiants :</a:t>
            </a:r>
            <a:r>
              <a:rPr sz="1196" b="0">
                <a:solidFill>
                  <a:srgbClr val="FFFFFF"/>
                </a:solidFill>
                <a:latin typeface="Roboto"/>
              </a:rPr>
              <a:t> Mr Wail Anaia • Mr Yasser Oussahel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4572000"/>
            <a:ext cx="106677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 Formation DWM • Jobintech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4952999"/>
            <a:ext cx="106677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 Encadrement : </a:t>
            </a:r>
            <a:r>
              <a:rPr sz="1076" b="0">
                <a:solidFill>
                  <a:srgbClr val="37DCF2"/>
                </a:solidFill>
                <a:latin typeface="Roboto"/>
              </a:rPr>
              <a:t>Pr. Abdelaaziz Hessane</a:t>
            </a:r>
            <a:r>
              <a:rPr sz="1076" b="0">
                <a:solidFill>
                  <a:srgbClr val="FFFFFF"/>
                </a:solidFill>
                <a:latin typeface="Roboto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41006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Contexte et Problématique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6954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832" y="1851577"/>
            <a:ext cx="266693" cy="144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1695449"/>
            <a:ext cx="30383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</a:rPr>
              <a:t>Contexte de Développement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268" y="2038349"/>
            <a:ext cx="303839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Numérisation croissante du secteur bancaire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5907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32" y="2694746"/>
            <a:ext cx="266693" cy="2493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57268" y="2590799"/>
            <a:ext cx="19716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</a:rPr>
              <a:t>Enjeux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268" y="2933699"/>
            <a:ext cx="19716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Sécurité des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268" y="3200400"/>
            <a:ext cx="19716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Fiabilité des opérations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268" y="3467100"/>
            <a:ext cx="19716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Interface utilisateur intuitive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0005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32" y="4110244"/>
            <a:ext cx="266693" cy="2377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4000500"/>
            <a:ext cx="56005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</a:rPr>
              <a:t>Problématique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268" y="4343400"/>
            <a:ext cx="5600559" cy="4952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Digitaliser les services bancaires tout en maintenant un haut niveau de sécurité et de fiabilité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51435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32" y="5259042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57268" y="5143500"/>
            <a:ext cx="56005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</a:rPr>
              <a:t>Notre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68" y="5486400"/>
            <a:ext cx="5600559" cy="4952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Application complète de gestion de comptes avec interface moderne et fonctionnalités avancées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9" y="1447800"/>
            <a:ext cx="3962300" cy="4762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74323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Objectifs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3241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3881" y="247356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367" y="2438400"/>
            <a:ext cx="172398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Pédagogiques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3162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079" y="3086100"/>
            <a:ext cx="201924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Abstraction &amp; Polymorphisme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5623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079" y="3486150"/>
            <a:ext cx="1190595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Architecture MVC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9623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079" y="3886200"/>
            <a:ext cx="1057248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Interface Swing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079" y="4286250"/>
            <a:ext cx="1809704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Exceptions personnalisées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762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079" y="4686300"/>
            <a:ext cx="170493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Persistance des données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1865" y="23241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162" y="2473569"/>
            <a:ext cx="304792" cy="2344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57648" y="2438400"/>
            <a:ext cx="156206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Fonctionnels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1865" y="3162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62360" y="3086100"/>
            <a:ext cx="232404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Gestion comptes courant/épargne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1865" y="35623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360" y="3486150"/>
            <a:ext cx="176208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Virements interne/externe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1865" y="39623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2360" y="3886200"/>
            <a:ext cx="83817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Relevés PDF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1865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360" y="4286250"/>
            <a:ext cx="1866853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Calcul automatique intérêts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1865" y="4762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2360" y="4686300"/>
            <a:ext cx="128584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Historique 12 mois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1865" y="51625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62360" y="5086350"/>
            <a:ext cx="176208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Authentification sécurisée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4621" y="23241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8919" y="2508738"/>
            <a:ext cx="304792" cy="1641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10404" y="2438400"/>
            <a:ext cx="137156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Techniques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4621" y="3162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15117" y="3086100"/>
            <a:ext cx="108582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Principes SOLID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4621" y="35623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15117" y="3486150"/>
            <a:ext cx="208592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Séparation des responsabilités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4621" y="39623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15117" y="3886200"/>
            <a:ext cx="1228694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Code maintenable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4621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15117" y="4286250"/>
            <a:ext cx="154301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Interface ergonomique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4621" y="4762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15117" y="4686300"/>
            <a:ext cx="1876378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Gestion robuste des erreurs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41958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Fonctionnalités Principales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43000"/>
            <a:ext cx="5371965" cy="2571750"/>
          </a:xfrm>
          <a:prstGeom prst="roundRect">
            <a:avLst>
              <a:gd name="adj" fmla="val 88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01" y="14668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7248" y="1650452"/>
            <a:ext cx="342891" cy="242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85882" y="1619250"/>
            <a:ext cx="234309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Gestion Utilisateurs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901" y="24003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5347" y="2305049"/>
            <a:ext cx="220974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Inscription &amp; Authentification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901" y="27813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5347" y="2686050"/>
            <a:ext cx="17906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Profil utilisateur détaillé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901" y="31622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5347" y="3067050"/>
            <a:ext cx="20478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Association multi-comptes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4" y="1143000"/>
            <a:ext cx="5371965" cy="2571750"/>
          </a:xfrm>
          <a:prstGeom prst="roundRect">
            <a:avLst>
              <a:gd name="adj" fmla="val 88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24461" y="14668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7808" y="1619414"/>
            <a:ext cx="342891" cy="3044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6442" y="1619250"/>
            <a:ext cx="204782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Gestion Comptes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4461" y="24003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5907" y="2305049"/>
            <a:ext cx="212402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Comptes courant &amp; épargne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4461" y="27813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5907" y="2686050"/>
            <a:ext cx="195257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Opérations dépôt &amp; retrait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24461" y="31622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5907" y="3067050"/>
            <a:ext cx="209544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Calcul automatique intérêts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24461" y="35433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5907" y="3448049"/>
            <a:ext cx="20478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Gestion découvert autorisé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3943350"/>
            <a:ext cx="5371965" cy="2571750"/>
          </a:xfrm>
          <a:prstGeom prst="roundRect">
            <a:avLst>
              <a:gd name="adj" fmla="val 88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3901" y="42671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4465582"/>
            <a:ext cx="342891" cy="2128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85882" y="4419600"/>
            <a:ext cx="257168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Opérations Bancaires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901" y="5200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5347" y="5105400"/>
            <a:ext cx="210497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Virements interne &amp; externe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901" y="55816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347" y="5486400"/>
            <a:ext cx="209544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Historique des transactions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901" y="5962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5347" y="5867399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Relevés mensuels &amp; annuels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4" y="3943350"/>
            <a:ext cx="5371965" cy="2571750"/>
          </a:xfrm>
          <a:prstGeom prst="roundRect">
            <a:avLst>
              <a:gd name="adj" fmla="val 88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24461" y="42671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7808" y="4438978"/>
            <a:ext cx="342891" cy="26604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286442" y="4419600"/>
            <a:ext cx="238119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Interface Utilisateur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24461" y="5200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95907" y="5105400"/>
            <a:ext cx="2238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Tableau de bord personnalisé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24461" y="55816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95907" y="5486400"/>
            <a:ext cx="14572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Navigation intuitive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24461" y="5962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95907" y="5867399"/>
            <a:ext cx="159063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Soldes en temps réel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4461" y="6343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95907" y="6248400"/>
            <a:ext cx="19621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Génération de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44806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Technologies Utilisées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876299"/>
            <a:ext cx="6400639" cy="2228850"/>
          </a:xfrm>
          <a:prstGeom prst="roundRect">
            <a:avLst>
              <a:gd name="adj" fmla="val 1025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703" y="1148861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793" y="1104900"/>
            <a:ext cx="422899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Environnement de Développement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7703" y="16764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050" y="1562100"/>
            <a:ext cx="69530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Java 17+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24201" y="16764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57548" y="1562100"/>
            <a:ext cx="8667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Java Swing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7703" y="20192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050" y="1904999"/>
            <a:ext cx="13429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Architecture MVC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4201" y="20192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57548" y="1904999"/>
            <a:ext cx="6476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VS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703" y="23621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1050" y="2247899"/>
            <a:ext cx="2190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24201" y="23621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57548" y="2247899"/>
            <a:ext cx="50481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Maven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7703" y="27050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1050" y="2590799"/>
            <a:ext cx="1800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Windows/Linux/MacOS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333749"/>
            <a:ext cx="6400639" cy="2228850"/>
          </a:xfrm>
          <a:prstGeom prst="roundRect">
            <a:avLst>
              <a:gd name="adj" fmla="val 1025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03" y="3584330"/>
            <a:ext cx="304792" cy="2608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66793" y="3562349"/>
            <a:ext cx="297172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Technologies Principales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7703" y="41338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1050" y="4019549"/>
            <a:ext cx="17525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Collections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24201" y="41338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57548" y="4019549"/>
            <a:ext cx="20478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Exceptions Personnalisées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703" y="44767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1050" y="4362450"/>
            <a:ext cx="18668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Architecture en Couches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24201" y="44767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57548" y="4362450"/>
            <a:ext cx="120964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Design Patterns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703" y="4819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1050" y="4705350"/>
            <a:ext cx="12286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Strategy Pattern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24201" y="4819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57548" y="4705350"/>
            <a:ext cx="12858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Observer Pattern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703" y="51625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1050" y="5048250"/>
            <a:ext cx="117154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Factory Pattern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84" y="5791200"/>
            <a:ext cx="6400639" cy="1009649"/>
          </a:xfrm>
          <a:prstGeom prst="roundRect">
            <a:avLst>
              <a:gd name="adj" fmla="val 2264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6001992"/>
            <a:ext cx="266693" cy="2261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90595" y="5981699"/>
            <a:ext cx="22287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Configuration Requise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04" y="6362700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JDK 17+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3091" y="6362700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4 GB 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102" y="6362700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500 MB Disque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9114" y="6362700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1024x768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611" y="1219200"/>
            <a:ext cx="4038499" cy="523874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68628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Architecture Générale (MVC)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695449"/>
            <a:ext cx="518147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37DCF2"/>
                </a:solidFill>
                <a:latin typeface="Montserrat"/>
              </a:rPr>
              <a:t>Vue d'Ensemble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152650"/>
            <a:ext cx="5181470" cy="1009649"/>
          </a:xfrm>
          <a:prstGeom prst="roundRect">
            <a:avLst>
              <a:gd name="adj" fmla="val 2264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5822" y="2383220"/>
            <a:ext cx="342891" cy="2246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05" y="2743200"/>
            <a:ext cx="98105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Présentation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19" y="2571335"/>
            <a:ext cx="266693" cy="19132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8894" y="2350704"/>
            <a:ext cx="342891" cy="289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00299" y="2743200"/>
            <a:ext cx="8096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Contrôleur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667" y="2571335"/>
            <a:ext cx="266693" cy="19132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1945" y="2374352"/>
            <a:ext cx="342891" cy="2423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7648" y="2743200"/>
            <a:ext cx="5714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Modèle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467100"/>
            <a:ext cx="5181470" cy="2495550"/>
          </a:xfrm>
          <a:prstGeom prst="roundRect">
            <a:avLst>
              <a:gd name="adj" fmla="val 916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703" y="3714750"/>
            <a:ext cx="47052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Composants de l'Architecture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703" y="41338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901" y="422719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2991" y="4133849"/>
            <a:ext cx="301934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Vue (Présentation)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2991" y="4400550"/>
            <a:ext cx="301934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Interface Swing - Affichage et interaction utilisateur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703" y="47053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3901" y="4810124"/>
            <a:ext cx="228594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42991" y="4705350"/>
            <a:ext cx="23240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Contrôleur (Logique)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2991" y="4972050"/>
            <a:ext cx="23240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Gestion des opérations et règles métier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7703" y="52768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3901" y="5451244"/>
            <a:ext cx="228594" cy="322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42991" y="5276850"/>
            <a:ext cx="22002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Modèle (Données)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2991" y="5543550"/>
            <a:ext cx="220021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Structures de données et persistance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3491" y="1447800"/>
            <a:ext cx="5219569" cy="3047999"/>
          </a:xfrm>
          <a:prstGeom prst="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43491" y="1447800"/>
            <a:ext cx="5219569" cy="3047999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24441" y="4743450"/>
            <a:ext cx="5257668" cy="1504950"/>
          </a:xfrm>
          <a:prstGeom prst="roundRect">
            <a:avLst>
              <a:gd name="adj" fmla="val 151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24461" y="4933950"/>
            <a:ext cx="48576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Principes Appliqués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24461" y="53911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57808" y="5314950"/>
            <a:ext cx="18382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Séparation des préoccupations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1375" y="53911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24721" y="5314950"/>
            <a:ext cx="93342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Faible couplage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24461" y="56578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7808" y="5581649"/>
            <a:ext cx="93342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Haute cohésion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1375" y="56578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24721" y="5581649"/>
            <a:ext cx="10762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Principe de Liskov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24461" y="59245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57808" y="5848350"/>
            <a:ext cx="14763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Inversion de dépendance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1375" y="59245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24721" y="5848350"/>
            <a:ext cx="10762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Code maintenable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00049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Diagramme de Packages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90625"/>
            <a:ext cx="10972525" cy="704849"/>
          </a:xfrm>
          <a:prstGeom prst="roundRect">
            <a:avLst>
              <a:gd name="adj" fmla="val 3243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434611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694" y="1390650"/>
            <a:ext cx="10000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banque/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190" y="1409699"/>
            <a:ext cx="12286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Racine du projet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190749"/>
            <a:ext cx="2076398" cy="4286250"/>
          </a:xfrm>
          <a:prstGeom prst="roundRect">
            <a:avLst>
              <a:gd name="adj" fmla="val 1100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05" y="2390360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397" y="2352675"/>
            <a:ext cx="10762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controleurs/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505" y="2771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03" y="2895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050" y="2828925"/>
            <a:ext cx="11620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AuthControleur.java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505" y="3152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7703" y="32765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1050" y="3209925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CompteControleur.java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505" y="3533774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7703" y="3657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1050" y="3590924"/>
            <a:ext cx="142871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VirementControleur.java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8379" y="2190749"/>
            <a:ext cx="2076398" cy="4286250"/>
          </a:xfrm>
          <a:prstGeom prst="roundRect">
            <a:avLst>
              <a:gd name="adj" fmla="val 1100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299" y="2390360"/>
            <a:ext cx="266693" cy="1913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43191" y="2352675"/>
            <a:ext cx="73340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modele/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00299" y="2771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76498" y="2895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9844" y="2828925"/>
            <a:ext cx="7905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abstractions/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299" y="3152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76498" y="32765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9844" y="3209925"/>
            <a:ext cx="105724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implementations/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00299" y="3533774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076498" y="3657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9844" y="3590924"/>
            <a:ext cx="64768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utilisateur/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299" y="3914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076498" y="40385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9844" y="3971925"/>
            <a:ext cx="68578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operations/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299" y="4295774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076498" y="4419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9844" y="4352924"/>
            <a:ext cx="7048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exceptions/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7648" y="2190749"/>
            <a:ext cx="2076398" cy="4286250"/>
          </a:xfrm>
          <a:prstGeom prst="roundRect">
            <a:avLst>
              <a:gd name="adj" fmla="val 1100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569" y="2390360"/>
            <a:ext cx="266693" cy="1913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62460" y="2352675"/>
            <a:ext cx="3905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vue/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9569" y="2771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295767" y="2895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29114" y="2828925"/>
            <a:ext cx="5429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fenetres/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9569" y="3152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295767" y="32765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29114" y="3209925"/>
            <a:ext cx="8000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composants/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86442" y="2190749"/>
            <a:ext cx="2076398" cy="4286250"/>
          </a:xfrm>
          <a:prstGeom prst="roundRect">
            <a:avLst>
              <a:gd name="adj" fmla="val 1100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63" y="2390360"/>
            <a:ext cx="266693" cy="1913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791255" y="2352675"/>
            <a:ext cx="7715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services/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48363" y="2771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524561" y="2895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57908" y="2828925"/>
            <a:ext cx="95247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PDFService.java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48363" y="3152775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524561" y="3276599"/>
            <a:ext cx="0" cy="57150"/>
          </a:xfrm>
          <a:prstGeom prst="roundRect">
            <a:avLst>
              <a:gd name="adj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00759" y="3209925"/>
            <a:ext cx="152396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CalculInteretsService.java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48363" y="3533774"/>
            <a:ext cx="175255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524561" y="3657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57908" y="3590924"/>
            <a:ext cx="13239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HistoriqueService.java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5712" y="2190749"/>
            <a:ext cx="2076398" cy="4286250"/>
          </a:xfrm>
          <a:prstGeom prst="roundRect">
            <a:avLst>
              <a:gd name="adj" fmla="val 11009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5317" y="3817519"/>
            <a:ext cx="457188" cy="3850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667633" y="4352924"/>
            <a:ext cx="17525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Main.java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67633" y="4695824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Point d'entrée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690545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Modèle Métier (Comptes &amp; Clients)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209800"/>
            <a:ext cx="5257668" cy="1933574"/>
          </a:xfrm>
          <a:prstGeom prst="roundRect">
            <a:avLst>
              <a:gd name="adj" fmla="val 11822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2476664"/>
            <a:ext cx="342891" cy="304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17" y="2476499"/>
            <a:ext cx="200972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Montserrat"/>
              </a:rPr>
              <a:t>CompteBancaire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2896" y="2533649"/>
            <a:ext cx="46671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Abstrait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2914650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numeroCompte: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4617" y="2914650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iban: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3200400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solde: double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617" y="3200400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historique: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28" y="3667124"/>
            <a:ext cx="153348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deposer()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6913" y="3667124"/>
            <a:ext cx="153348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retirer()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6122" y="3667124"/>
            <a:ext cx="153348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calculerInterets()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371975"/>
            <a:ext cx="2552636" cy="10858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05" y="4571585"/>
            <a:ext cx="266693" cy="19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4397" y="4533900"/>
            <a:ext cx="140966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CompteCourant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05" y="4876800"/>
            <a:ext cx="22287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decouvertAutorise: double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05" y="5105400"/>
            <a:ext cx="22287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fraisDecouvert: double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4617" y="4371975"/>
            <a:ext cx="2552636" cy="10858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6538" y="4558540"/>
            <a:ext cx="266693" cy="2174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9429" y="4533900"/>
            <a:ext cx="14572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CompteEpargne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6538" y="4876800"/>
            <a:ext cx="22287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tauxInteretAnnuel: double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6538" y="5105400"/>
            <a:ext cx="22287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plafondDepot: double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1" y="1390650"/>
            <a:ext cx="5257668" cy="188595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560" y="1682261"/>
            <a:ext cx="304792" cy="2168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1650" y="1638299"/>
            <a:ext cx="69530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Client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2560" y="21907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95907" y="2095499"/>
            <a:ext cx="10477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Nom, Prénom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2560" y="25336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95907" y="2438400"/>
            <a:ext cx="15334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Email, Mot de passe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2560" y="28765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95907" y="2781300"/>
            <a:ext cx="20478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Association multi-comptes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1" y="3505199"/>
            <a:ext cx="5257668" cy="1523999"/>
          </a:xfrm>
          <a:prstGeom prst="roundRect">
            <a:avLst>
              <a:gd name="adj" fmla="val 15000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4461" y="3759517"/>
            <a:ext cx="228594" cy="17716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524461" y="4229100"/>
            <a:ext cx="1438239" cy="380999"/>
          </a:xfrm>
          <a:prstGeom prst="roundRect">
            <a:avLst>
              <a:gd name="adj" fmla="val 40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6858" y="4305300"/>
            <a:ext cx="11334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CompteBancaire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24701" y="4349261"/>
            <a:ext cx="304792" cy="21687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191495" y="4095749"/>
            <a:ext cx="1190595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05792" y="4171950"/>
            <a:ext cx="9620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CompteCourant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91495" y="4495799"/>
            <a:ext cx="1190595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05792" y="4572000"/>
            <a:ext cx="9620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CompteEpargne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1" y="5181599"/>
            <a:ext cx="5257668" cy="10858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6362" y="5353049"/>
            <a:ext cx="493382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Caractéristiques Clés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86362" y="57150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9709" y="5657850"/>
            <a:ext cx="176208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Abstraction &amp; Polymorphisme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91375" y="57150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24721" y="5657850"/>
            <a:ext cx="12477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Encapsulation stricte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86362" y="59816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19709" y="5924549"/>
            <a:ext cx="121916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Méthodes abstraites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91375" y="59816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4721" y="5924549"/>
            <a:ext cx="152396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Historique des opérations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82579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Gestion des Comptes (Courant / Épargne)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66799"/>
            <a:ext cx="5333866" cy="3543300"/>
          </a:xfrm>
          <a:prstGeom prst="roundRect">
            <a:avLst>
              <a:gd name="adj" fmla="val 6451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371004"/>
            <a:ext cx="380990" cy="2678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333500"/>
            <a:ext cx="245738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Compte Courant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1938057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1885950"/>
            <a:ext cx="13715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Découvert autorisé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20" y="2152650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1 000 € maximum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25857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533649"/>
            <a:ext cx="125726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Frais de découvert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20" y="2800350"/>
            <a:ext cx="12572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10% annuel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32334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20" y="3181350"/>
            <a:ext cx="26288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Virements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3448049"/>
            <a:ext cx="26288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Illimités (jusqu'à 5 000 €/transfert)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38811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2020" y="3829050"/>
            <a:ext cx="116202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Plafond de dépôt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4095749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Aucune limite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243" y="1066799"/>
            <a:ext cx="5333866" cy="3543300"/>
          </a:xfrm>
          <a:prstGeom prst="roundRect">
            <a:avLst>
              <a:gd name="adj" fmla="val 6451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5887" y="1351657"/>
            <a:ext cx="380990" cy="3065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1175" y="1333500"/>
            <a:ext cx="252406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Compte Épargne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87" y="193805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00679" y="1885950"/>
            <a:ext cx="91437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Taux d'intérêt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679" y="2152650"/>
            <a:ext cx="9143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2% annuel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87" y="258575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00679" y="2533649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Plafond de dépôt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0679" y="2800350"/>
            <a:ext cx="14572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Défini par l'épargne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87" y="32334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00679" y="3181350"/>
            <a:ext cx="25907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Virements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0679" y="3448049"/>
            <a:ext cx="259073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Limités (jusqu'à 5 000 €/transfert)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87" y="38811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00679" y="3829050"/>
            <a:ext cx="98105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Découvert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0679" y="4095749"/>
            <a:ext cx="98105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Non autorisé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584" y="4838699"/>
            <a:ext cx="10972525" cy="1771650"/>
          </a:xfrm>
          <a:prstGeom prst="roundRect">
            <a:avLst>
              <a:gd name="adj" fmla="val 12903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5073161"/>
            <a:ext cx="304792" cy="2168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28694" y="5029200"/>
            <a:ext cx="30383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Règles Métier Communes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2140" y="5500894"/>
            <a:ext cx="266693" cy="23771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9604" y="5829300"/>
            <a:ext cx="33717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Plafond de virement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604" y="6095999"/>
            <a:ext cx="337176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5 000 €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2500" y="5515389"/>
            <a:ext cx="266693" cy="20872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09964" y="5829300"/>
            <a:ext cx="33717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Frais virement externe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9964" y="6095999"/>
            <a:ext cx="337176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1,50 €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62860" y="5515389"/>
            <a:ext cx="266693" cy="20872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10324" y="5829300"/>
            <a:ext cx="33717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Historique des transactions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0324" y="6095999"/>
            <a:ext cx="337176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12 mois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99097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Gestion des Transactions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3505112" cy="5438774"/>
          </a:xfrm>
          <a:prstGeom prst="roundRect">
            <a:avLst>
              <a:gd name="adj" fmla="val 65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35287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793" y="1333500"/>
            <a:ext cx="74293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Dépôt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604" y="18859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099" y="1809749"/>
            <a:ext cx="259073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Crédite immédiatement le compte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04" y="22764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0099" y="2200275"/>
            <a:ext cx="247643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Met à jour le solde en temps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604" y="2667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0099" y="2590799"/>
            <a:ext cx="233356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Ajoute l'opération à l'historique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604" y="3067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099" y="2990849"/>
            <a:ext cx="179065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Génération de reçu 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291" y="1114425"/>
            <a:ext cx="3505112" cy="5438774"/>
          </a:xfrm>
          <a:prstGeom prst="roundRect">
            <a:avLst>
              <a:gd name="adj" fmla="val 65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311" y="1364702"/>
            <a:ext cx="342891" cy="2423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00499" y="1333500"/>
            <a:ext cx="80960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Retrait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3311" y="18859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3806" y="1809749"/>
            <a:ext cx="259073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Vérifie solde et découvert autorisé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3311" y="22764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3806" y="2200275"/>
            <a:ext cx="253358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Débite le compte après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3311" y="2667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3806" y="2590799"/>
            <a:ext cx="2304992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Exceptions si solde insuffisant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3311" y="3067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3806" y="2990849"/>
            <a:ext cx="219069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Frais de découvert appliqués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6998" y="1114425"/>
            <a:ext cx="3505112" cy="3419474"/>
          </a:xfrm>
          <a:prstGeom prst="roundRect">
            <a:avLst>
              <a:gd name="adj" fmla="val 668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7018" y="1379482"/>
            <a:ext cx="342891" cy="2128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4206" y="1333500"/>
            <a:ext cx="112392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Virement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7018" y="1809749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Virement Interne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7018" y="2114550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Gratuit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7018" y="2400300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Entre comptes du même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7018" y="2686050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Validation en temps réel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7018" y="3228975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Virement Externe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7018" y="3533774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Frais de 1,50 €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7018" y="3819524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Plafond: 5 000 €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7018" y="4105274"/>
            <a:ext cx="31050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• Vérification solde préalable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6998" y="4724399"/>
            <a:ext cx="3505112" cy="1085850"/>
          </a:xfrm>
          <a:prstGeom prst="roundRect">
            <a:avLst>
              <a:gd name="adj" fmla="val 21052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8919" y="4907756"/>
            <a:ext cx="228594" cy="1857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43711" y="4886325"/>
            <a:ext cx="86675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Validations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38919" y="52578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72265" y="5191125"/>
            <a:ext cx="88580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Solde suffisant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67653" y="52578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00999" y="5191125"/>
            <a:ext cx="10096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Plafond respecté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38919" y="55244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72265" y="5457825"/>
            <a:ext cx="90485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Comptes actifs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67653" y="55244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00999" y="5457825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IBAN valides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672448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Gestion des Exceptions Bancaires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600200"/>
            <a:ext cx="5333866" cy="2914650"/>
          </a:xfrm>
          <a:prstGeom prst="roundRect">
            <a:avLst>
              <a:gd name="adj" fmla="val 7843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8830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18" y="1847849"/>
            <a:ext cx="304792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Hiérarchie des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28" y="2305049"/>
            <a:ext cx="4838579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47" y="2438400"/>
            <a:ext cx="436234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Exception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220" y="2965132"/>
            <a:ext cx="228594" cy="1657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7228" y="3276599"/>
            <a:ext cx="2362140" cy="438149"/>
          </a:xfrm>
          <a:prstGeom prst="roundRect">
            <a:avLst>
              <a:gd name="adj" fmla="val 347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9149" y="3390899"/>
            <a:ext cx="20382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SoldeInsuffisantException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3666" y="3276599"/>
            <a:ext cx="2362140" cy="438149"/>
          </a:xfrm>
          <a:prstGeom prst="roundRect">
            <a:avLst>
              <a:gd name="adj" fmla="val 347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5587" y="3390899"/>
            <a:ext cx="20382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DecouvertDepasseException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3829050"/>
            <a:ext cx="2362140" cy="438149"/>
          </a:xfrm>
          <a:prstGeom prst="roundRect">
            <a:avLst>
              <a:gd name="adj" fmla="val 347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149" y="3943350"/>
            <a:ext cx="20382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PlafondDepasseException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3666" y="3829050"/>
            <a:ext cx="2362140" cy="438149"/>
          </a:xfrm>
          <a:prstGeom prst="roundRect">
            <a:avLst>
              <a:gd name="adj" fmla="val 347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95587" y="3943350"/>
            <a:ext cx="20382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CompteInexistantException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705350"/>
            <a:ext cx="5333866" cy="1352549"/>
          </a:xfrm>
          <a:prstGeom prst="roundRect">
            <a:avLst>
              <a:gd name="adj" fmla="val 1690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4935192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2496" y="4914900"/>
            <a:ext cx="26097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Exceptions Personnalisées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604" y="53721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951" y="5295899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Héritent de Exception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3666" y="53721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67013" y="5295899"/>
            <a:ext cx="148586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Messages en français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604" y="57150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2951" y="5638799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Constructeurs paramétrés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3666" y="57150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67013" y="5638799"/>
            <a:ext cx="186685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Journalisation automatique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243" y="1114425"/>
            <a:ext cx="5333866" cy="1619250"/>
          </a:xfrm>
          <a:prstGeom prst="roundRect">
            <a:avLst>
              <a:gd name="adj" fmla="val 1411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8263" y="1339090"/>
            <a:ext cx="266693" cy="21741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91155" y="1314450"/>
            <a:ext cx="25716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SoldeInsuffisantException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263" y="1733550"/>
            <a:ext cx="493382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Déclenchée lors d'un retrait ou virement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8263" y="2076449"/>
            <a:ext cx="4933826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2560" y="2190749"/>
            <a:ext cx="470523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Montant &gt; Solde + Découvert autorisé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8243" y="2886075"/>
            <a:ext cx="5333866" cy="1619250"/>
          </a:xfrm>
          <a:prstGeom prst="roundRect">
            <a:avLst>
              <a:gd name="adj" fmla="val 1411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8263" y="3146977"/>
            <a:ext cx="266693" cy="14494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91155" y="3086100"/>
            <a:ext cx="28383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DecouvertDepasseException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8263" y="3505199"/>
            <a:ext cx="493382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Déclenchée si le découvert dépasse 1 000 €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8263" y="3848099"/>
            <a:ext cx="4933826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2560" y="3962399"/>
            <a:ext cx="470523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Compte courant solde &lt; -1 000 €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8243" y="4657725"/>
            <a:ext cx="5333866" cy="1619250"/>
          </a:xfrm>
          <a:prstGeom prst="roundRect">
            <a:avLst>
              <a:gd name="adj" fmla="val 1411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8263" y="4878042"/>
            <a:ext cx="266693" cy="22611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91155" y="4857750"/>
            <a:ext cx="258121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PlafondDepasseException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8263" y="5276850"/>
            <a:ext cx="493382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Déclenchée si le virement dépasse 5 000 €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8263" y="5619750"/>
            <a:ext cx="4933826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2560" y="5734050"/>
            <a:ext cx="470523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Virement &gt; Plafond de 5 000 €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8243" y="6429375"/>
            <a:ext cx="5333866" cy="1009649"/>
          </a:xfrm>
          <a:prstGeom prst="roundRect">
            <a:avLst>
              <a:gd name="adj" fmla="val 2264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8263" y="6649692"/>
            <a:ext cx="266693" cy="22611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91155" y="6629400"/>
            <a:ext cx="273360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CompteInexistantException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8263" y="7010399"/>
            <a:ext cx="493382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Compte recherché introuvable dans la 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41958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Sécurité &amp; Authentification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5333866" cy="2209800"/>
          </a:xfrm>
          <a:prstGeom prst="roundRect">
            <a:avLst>
              <a:gd name="adj" fmla="val 1034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323242"/>
            <a:ext cx="304792" cy="287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694" y="1314450"/>
            <a:ext cx="320031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Système d'Authentification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604" y="18478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099" y="1771650"/>
            <a:ext cx="29336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Inscription avec email et mot de passe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04" y="2209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0099" y="2133599"/>
            <a:ext cx="37622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Connexion sécurisée et validation des identifiants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604" y="25717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0099" y="2495550"/>
            <a:ext cx="252406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Gestion de sessions persistantes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604" y="29336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099" y="2857500"/>
            <a:ext cx="27907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Association multi-comptes par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514725"/>
            <a:ext cx="5333866" cy="1924049"/>
          </a:xfrm>
          <a:prstGeom prst="roundRect">
            <a:avLst>
              <a:gd name="adj" fmla="val 1188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3723446"/>
            <a:ext cx="266693" cy="2493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595" y="3714750"/>
            <a:ext cx="15334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AuthControleur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604" y="41719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951" y="4095749"/>
            <a:ext cx="24669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authentifier()</a:t>
            </a:r>
            <a:r>
              <a:rPr sz="956" b="0">
                <a:solidFill>
                  <a:srgbClr val="FFFFFF"/>
                </a:solidFill>
                <a:latin typeface="Roboto"/>
              </a:rPr>
              <a:t> - Vérifie les identifiants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04" y="44767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951" y="4400550"/>
            <a:ext cx="280980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inscrireClient()</a:t>
            </a:r>
            <a:r>
              <a:rPr sz="956" b="0">
                <a:solidFill>
                  <a:srgbClr val="FFFFFF"/>
                </a:solidFill>
                <a:latin typeface="Roboto"/>
              </a:rPr>
              <a:t> - Crée un nouveau compte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604" y="47815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2951" y="4705350"/>
            <a:ext cx="236214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Gestion map&lt;String, Client&gt; clients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604" y="50863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2951" y="5010149"/>
            <a:ext cx="253358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Client clientConnecté - Session active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1114425"/>
            <a:ext cx="5333866" cy="2571750"/>
          </a:xfrm>
          <a:prstGeom prst="roundRect">
            <a:avLst>
              <a:gd name="adj" fmla="val 888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8263" y="1323242"/>
            <a:ext cx="304792" cy="2872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67353" y="1314450"/>
            <a:ext cx="238119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Mesures de Sécurité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8263" y="1771650"/>
            <a:ext cx="2409764" cy="704849"/>
          </a:xfrm>
          <a:prstGeom prst="roundRect">
            <a:avLst>
              <a:gd name="adj" fmla="val 21621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560" y="191166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67353" y="1885950"/>
            <a:ext cx="12382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Validation Entrées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560" y="2171700"/>
            <a:ext cx="21811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Contrôle strict des données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2325" y="1771650"/>
            <a:ext cx="2409764" cy="704849"/>
          </a:xfrm>
          <a:prstGeom prst="roundRect">
            <a:avLst>
              <a:gd name="adj" fmla="val 21621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86622" y="1911667"/>
            <a:ext cx="228594" cy="1771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91415" y="1885950"/>
            <a:ext cx="91437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Anti-Injection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6622" y="2171700"/>
            <a:ext cx="21811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Protection contre les attaques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8263" y="2590799"/>
            <a:ext cx="2409764" cy="895350"/>
          </a:xfrm>
          <a:prstGeom prst="roundRect">
            <a:avLst>
              <a:gd name="adj" fmla="val 17021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2560" y="2716530"/>
            <a:ext cx="228594" cy="2057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67353" y="2705099"/>
            <a:ext cx="112392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Erreur Sécurisée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2560" y="2990849"/>
            <a:ext cx="218117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Messages informatifs uniquement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72325" y="2590799"/>
            <a:ext cx="2409764" cy="895350"/>
          </a:xfrm>
          <a:prstGeom prst="roundRect">
            <a:avLst>
              <a:gd name="adj" fmla="val 17021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86622" y="2730817"/>
            <a:ext cx="228594" cy="1771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91415" y="2705099"/>
            <a:ext cx="14763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Session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6622" y="2990849"/>
            <a:ext cx="21811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Contrôle d'accès granulaire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8243" y="3876674"/>
            <a:ext cx="5333866" cy="1457325"/>
          </a:xfrm>
          <a:prstGeom prst="roundRect">
            <a:avLst>
              <a:gd name="adj" fmla="val 15686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48263" y="4105689"/>
            <a:ext cx="266693" cy="20872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91155" y="4076699"/>
            <a:ext cx="2238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Flux d'Authentification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8263" y="4457700"/>
            <a:ext cx="942951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0659" y="4533900"/>
            <a:ext cx="6381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Inscription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19729" y="4902013"/>
            <a:ext cx="190495" cy="140073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7848403" y="4457700"/>
            <a:ext cx="904852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00799" y="4533900"/>
            <a:ext cx="6000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Validation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00819" y="4902013"/>
            <a:ext cx="190495" cy="140073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9210444" y="4457700"/>
            <a:ext cx="942951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62840" y="4533900"/>
            <a:ext cx="6381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Connexion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81910" y="4902013"/>
            <a:ext cx="190495" cy="140073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0601059" y="4591050"/>
            <a:ext cx="781030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753456" y="4667249"/>
            <a:ext cx="4762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Session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243" y="5524499"/>
            <a:ext cx="5333866" cy="552450"/>
          </a:xfrm>
          <a:prstGeom prst="roundRect">
            <a:avLst>
              <a:gd name="adj" fmla="val 4137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10164" y="5716428"/>
            <a:ext cx="228594" cy="16859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14957" y="5686425"/>
            <a:ext cx="435281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Multi-comptes: Un client peut gérer plusieurs comptes bancaires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08622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Interface Graphique (GUI)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8634" y="1133475"/>
            <a:ext cx="6410164" cy="4000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584" y="5305425"/>
            <a:ext cx="2076398" cy="609600"/>
          </a:xfrm>
          <a:prstGeom prst="roundRect">
            <a:avLst>
              <a:gd name="adj" fmla="val 25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3881" y="5419725"/>
            <a:ext cx="184780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Actions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881" y="5648325"/>
            <a:ext cx="1847803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#0066CC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0279" y="5305425"/>
            <a:ext cx="2076398" cy="609600"/>
          </a:xfrm>
          <a:prstGeom prst="roundRect">
            <a:avLst>
              <a:gd name="adj" fmla="val 25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14577" y="5419725"/>
            <a:ext cx="184780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Actions Positives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4577" y="5648325"/>
            <a:ext cx="1847803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#28A745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1450" y="5305425"/>
            <a:ext cx="2076398" cy="609600"/>
          </a:xfrm>
          <a:prstGeom prst="roundRect">
            <a:avLst>
              <a:gd name="adj" fmla="val 25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95747" y="5419725"/>
            <a:ext cx="184780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Actions Dangereuses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747" y="5648325"/>
            <a:ext cx="1847803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#DC3545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6442" y="1114425"/>
            <a:ext cx="4295667" cy="2228850"/>
          </a:xfrm>
          <a:prstGeom prst="roundRect">
            <a:avLst>
              <a:gd name="adj" fmla="val 1025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6462" y="1352135"/>
            <a:ext cx="266693" cy="191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29354" y="1314450"/>
            <a:ext cx="20001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Fenêtres Principales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6462" y="1781174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9809" y="1695449"/>
            <a:ext cx="12286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FenetreConnexion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6462" y="208597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19809" y="2000250"/>
            <a:ext cx="136204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FenetreTableauBord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6462" y="2390774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9809" y="2305049"/>
            <a:ext cx="112392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FenetreVirement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6462" y="269557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9809" y="2609850"/>
            <a:ext cx="12096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FenetreHistorique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86462" y="300037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9809" y="2914650"/>
            <a:ext cx="131441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FenetreRelevesPDF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6442" y="3495675"/>
            <a:ext cx="4295667" cy="1238249"/>
          </a:xfrm>
          <a:prstGeom prst="roundRect">
            <a:avLst>
              <a:gd name="adj" fmla="val 1846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6462" y="3715992"/>
            <a:ext cx="266693" cy="2261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29354" y="3695699"/>
            <a:ext cx="12477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Principes 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6462" y="41528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19809" y="4076699"/>
            <a:ext cx="11620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Consistance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7613" y="41528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0959" y="4076699"/>
            <a:ext cx="117154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Feedback immédiat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6462" y="4419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19809" y="4343400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Accessibilité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7613" y="4419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0959" y="4343400"/>
            <a:ext cx="5524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Efficacité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86442" y="4886325"/>
            <a:ext cx="4295667" cy="819149"/>
          </a:xfrm>
          <a:prstGeom prst="roundRect">
            <a:avLst>
              <a:gd name="adj" fmla="val 27906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363" y="5073967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53156" y="5048250"/>
            <a:ext cx="129536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Palette Couleurs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8363" y="53721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76958" y="5353049"/>
            <a:ext cx="4000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Neutre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7613" y="53721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8255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96207" y="5353049"/>
            <a:ext cx="29526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Fond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61960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Génération des Relevés PDF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6400639" cy="1809749"/>
          </a:xfrm>
          <a:prstGeom prst="roundRect">
            <a:avLst>
              <a:gd name="adj" fmla="val 1263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337896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694" y="1314450"/>
            <a:ext cx="135251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PDFService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04" y="1771650"/>
            <a:ext cx="60005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Service dédié à la génération de relevés bancaires professionnels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604" y="22288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099" y="2152650"/>
            <a:ext cx="121916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Relevés mensuels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7053" y="22288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57548" y="2152650"/>
            <a:ext cx="10953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Relevés annuels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604" y="25717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099" y="2495550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Historique 12 mois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7053" y="25717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7548" y="2495550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Format professionnel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3076574"/>
            <a:ext cx="6400639" cy="1352549"/>
          </a:xfrm>
          <a:prstGeom prst="roundRect">
            <a:avLst>
              <a:gd name="adj" fmla="val 16901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3305589"/>
            <a:ext cx="266693" cy="20872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52496" y="3276599"/>
            <a:ext cx="18668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Contenu du Relevé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604" y="37719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951" y="3695699"/>
            <a:ext cx="20287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Informations client complètes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8003" y="37719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81350" y="3695699"/>
            <a:ext cx="215259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Détails du compte (IBAN, solde)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604" y="40766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2951" y="4000500"/>
            <a:ext cx="199067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Liste des transactions filtrées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8003" y="40766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81350" y="4000500"/>
            <a:ext cx="117154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Calcul des totaux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4581524"/>
            <a:ext cx="6400639" cy="552450"/>
          </a:xfrm>
          <a:prstGeom prst="roundRect">
            <a:avLst>
              <a:gd name="adj" fmla="val 4137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505" y="476916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6298" y="4743450"/>
            <a:ext cx="431471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Fallback:</a:t>
            </a:r>
            <a:r>
              <a:rPr sz="956" b="0">
                <a:solidFill>
                  <a:srgbClr val="FFFFFF"/>
                </a:solidFill>
                <a:latin typeface="Roboto"/>
              </a:rPr>
              <a:t> Alternative en texte si bibliothèques PDF indisponibles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017" y="1114425"/>
            <a:ext cx="4267093" cy="2419349"/>
          </a:xfrm>
          <a:prstGeom prst="roundRect">
            <a:avLst>
              <a:gd name="adj" fmla="val 944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5037" y="1343439"/>
            <a:ext cx="266693" cy="2087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57928" y="1314450"/>
            <a:ext cx="256216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Algorithme de Génération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15037" y="17335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10284" y="1771650"/>
            <a:ext cx="761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6027" y="1733550"/>
            <a:ext cx="30955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Collecte des Données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6027" y="2000250"/>
            <a:ext cx="309554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Récupération des informations client et transactions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15037" y="23050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10284" y="2343150"/>
            <a:ext cx="761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6027" y="2305049"/>
            <a:ext cx="258121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Formatage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6027" y="2571750"/>
            <a:ext cx="258121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Organisation et mise en forme des données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15037" y="28765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10284" y="2914650"/>
            <a:ext cx="761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6027" y="2876549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Création du Document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6027" y="3143250"/>
            <a:ext cx="20668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Génération du fichier PDF structuré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017" y="3686175"/>
            <a:ext cx="4267093" cy="1619250"/>
          </a:xfrm>
          <a:prstGeom prst="roundRect">
            <a:avLst>
              <a:gd name="adj" fmla="val 1411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15037" y="3936682"/>
            <a:ext cx="228594" cy="165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819829" y="3886200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Fonctionnalités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15037" y="43434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48383" y="4267199"/>
            <a:ext cx="11048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Filtrage par date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15037" y="46482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48383" y="4572000"/>
            <a:ext cx="18001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Calcul automatique soldes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15037" y="49529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48383" y="4876800"/>
            <a:ext cx="121916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Exportation locale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66703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Tests et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8634" y="1133475"/>
            <a:ext cx="4257568" cy="49529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33846" y="1114425"/>
            <a:ext cx="2076398" cy="1352549"/>
          </a:xfrm>
          <a:prstGeom prst="roundRect">
            <a:avLst>
              <a:gd name="adj" fmla="val 1690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767" y="13020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0559" y="1276350"/>
            <a:ext cx="70483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Unitaires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5767" y="1619250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Dépôt/Retrait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5767" y="1866899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5767" y="2114550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Calculs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4541" y="1114425"/>
            <a:ext cx="2076398" cy="1352549"/>
          </a:xfrm>
          <a:prstGeom prst="roundRect">
            <a:avLst>
              <a:gd name="adj" fmla="val 1690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6462" y="1292066"/>
            <a:ext cx="228594" cy="1971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91255" y="1276350"/>
            <a:ext cx="87627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Intégration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6462" y="1619250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Authentification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462" y="1866899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Virements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462" y="2114550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PDF, Intérêts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5712" y="1114425"/>
            <a:ext cx="2076398" cy="1352549"/>
          </a:xfrm>
          <a:prstGeom prst="roundRect">
            <a:avLst>
              <a:gd name="adj" fmla="val 1690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67633" y="1309211"/>
            <a:ext cx="228594" cy="1628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72425" y="1276350"/>
            <a:ext cx="10286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7633" y="1619250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Temps réponse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7633" y="1866899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Utilisation mémoire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7633" y="2114550"/>
            <a:ext cx="17525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Scalabilité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3846" y="2619374"/>
            <a:ext cx="6448263" cy="1466849"/>
          </a:xfrm>
          <a:prstGeom prst="roundRect">
            <a:avLst>
              <a:gd name="adj" fmla="val 15584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5767" y="2811779"/>
            <a:ext cx="228594" cy="2057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00559" y="2781300"/>
            <a:ext cx="23907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Validation Fonctionnelle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95767" y="3162299"/>
            <a:ext cx="1990675" cy="342900"/>
          </a:xfrm>
          <a:prstGeom prst="roundRect">
            <a:avLst>
              <a:gd name="adj" fmla="val 44444"/>
            </a:avLst>
          </a:prstGeom>
          <a:solidFill>
            <a:srgbClr val="28A7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86282" y="3252507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52976" y="3238500"/>
            <a:ext cx="95247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Authentification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2640" y="3162299"/>
            <a:ext cx="1990675" cy="342900"/>
          </a:xfrm>
          <a:prstGeom prst="roundRect">
            <a:avLst>
              <a:gd name="adj" fmla="val 44444"/>
            </a:avLst>
          </a:prstGeom>
          <a:solidFill>
            <a:srgbClr val="28A7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15057" y="325250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81750" y="3238500"/>
            <a:ext cx="10096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Gestion comptes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9514" y="3162299"/>
            <a:ext cx="1990675" cy="342900"/>
          </a:xfrm>
          <a:prstGeom prst="roundRect">
            <a:avLst>
              <a:gd name="adj" fmla="val 44444"/>
            </a:avLst>
          </a:prstGeom>
          <a:solidFill>
            <a:srgbClr val="28A7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81950" y="32525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248643" y="3238500"/>
            <a:ext cx="60958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Virements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95767" y="3581400"/>
            <a:ext cx="1990675" cy="342900"/>
          </a:xfrm>
          <a:prstGeom prst="roundRect">
            <a:avLst>
              <a:gd name="adj" fmla="val 44444"/>
            </a:avLst>
          </a:prstGeom>
          <a:solidFill>
            <a:srgbClr val="28A7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8203" y="36716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14897" y="3657600"/>
            <a:ext cx="61910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Historique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2640" y="3581400"/>
            <a:ext cx="1990675" cy="342900"/>
          </a:xfrm>
          <a:prstGeom prst="roundRect">
            <a:avLst>
              <a:gd name="adj" fmla="val 44444"/>
            </a:avLst>
          </a:prstGeom>
          <a:solidFill>
            <a:srgbClr val="28A7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05572" y="36716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72265" y="3657600"/>
            <a:ext cx="2476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PDF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29514" y="3581400"/>
            <a:ext cx="1990675" cy="342900"/>
          </a:xfrm>
          <a:prstGeom prst="roundRect">
            <a:avLst>
              <a:gd name="adj" fmla="val 44444"/>
            </a:avLst>
          </a:prstGeom>
          <a:solidFill>
            <a:srgbClr val="28A7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8148" y="367160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324841" y="3657600"/>
            <a:ext cx="45718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Intérêts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33846" y="4238624"/>
            <a:ext cx="3162220" cy="1276350"/>
          </a:xfrm>
          <a:prstGeom prst="roundRect">
            <a:avLst>
              <a:gd name="adj" fmla="val 1791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5767" y="4444813"/>
            <a:ext cx="190495" cy="14007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562460" y="4400550"/>
            <a:ext cx="14953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Cas de Test Positifs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5767" y="4705350"/>
            <a:ext cx="28383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Inscription réussie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5767" y="4933950"/>
            <a:ext cx="28383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Virement interne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5767" y="5162550"/>
            <a:ext cx="28383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Génération PDF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9889" y="4238624"/>
            <a:ext cx="3162220" cy="1276350"/>
          </a:xfrm>
          <a:prstGeom prst="roundRect">
            <a:avLst>
              <a:gd name="adj" fmla="val 1791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81810" y="4433607"/>
            <a:ext cx="190495" cy="1624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848503" y="4400550"/>
            <a:ext cx="9524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Cas d'Erreur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81810" y="4705350"/>
            <a:ext cx="28383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Solde insuffisant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81810" y="4933950"/>
            <a:ext cx="28383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Plafond dépassé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81810" y="5162550"/>
            <a:ext cx="28383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• Compte inexistant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91467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Limites du Système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5371965" cy="3409950"/>
          </a:xfrm>
          <a:prstGeom prst="roundRect">
            <a:avLst>
              <a:gd name="adj" fmla="val 670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3496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694" y="1314450"/>
            <a:ext cx="227641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Limites Techniques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1834963"/>
            <a:ext cx="190495" cy="140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397" y="1771650"/>
            <a:ext cx="385752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Stockage en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397" y="2000250"/>
            <a:ext cx="385752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Pas de base de données réelle, données perdues après fermeture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2376767"/>
            <a:ext cx="190495" cy="123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4397" y="2305049"/>
            <a:ext cx="26478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Mono-utilisateur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397" y="2533649"/>
            <a:ext cx="264788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Pas de gestion multi-utilisateurs concurrents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28905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4397" y="2838450"/>
            <a:ext cx="205734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Interface Desktop uniquement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397" y="3067050"/>
            <a:ext cx="205734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Pas d'accès web ou mobile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604" y="3419755"/>
            <a:ext cx="190495" cy="1708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4397" y="3371850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Absence de chiffrement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397" y="3600450"/>
            <a:ext cx="19240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Données sensibles non chiffrées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604" y="39685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4397" y="3905249"/>
            <a:ext cx="166683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Tests unitaires limités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397" y="4133849"/>
            <a:ext cx="166683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Couverture de tests partielle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4" y="1114425"/>
            <a:ext cx="5371965" cy="3409950"/>
          </a:xfrm>
          <a:prstGeom prst="roundRect">
            <a:avLst>
              <a:gd name="adj" fmla="val 670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0164" y="1343757"/>
            <a:ext cx="304792" cy="246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29254" y="1314450"/>
            <a:ext cx="266693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Limites Fonctionnelles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10164" y="1829360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14957" y="1771650"/>
            <a:ext cx="194305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Analyse limitée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4957" y="2000250"/>
            <a:ext cx="194305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Pas d'analyse financière avancée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10164" y="2358558"/>
            <a:ext cx="190495" cy="15968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14957" y="2305049"/>
            <a:ext cx="18859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Pas de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4957" y="2533649"/>
            <a:ext cx="188590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Absence d'alertes en temps réel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10164" y="2882152"/>
            <a:ext cx="190495" cy="1792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14957" y="2838450"/>
            <a:ext cx="169540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Mono-devise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4957" y="3067050"/>
            <a:ext cx="16954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Pas de gestion multi-devises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10164" y="3415552"/>
            <a:ext cx="190495" cy="1792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14957" y="3371850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Pas d'API 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4957" y="3600450"/>
            <a:ext cx="19240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Intégration impossible avec tiers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10164" y="4027192"/>
            <a:ext cx="190495" cy="2281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14957" y="3905249"/>
            <a:ext cx="189542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Transactions basiques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4957" y="4133849"/>
            <a:ext cx="189542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Pas de gestion avancée des flux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144" y="4676775"/>
            <a:ext cx="5371965" cy="1123949"/>
          </a:xfrm>
          <a:prstGeom prst="roundRect">
            <a:avLst>
              <a:gd name="adj" fmla="val 20338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72065" y="487489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76858" y="4838699"/>
            <a:ext cx="7048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Objectif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2065" y="5181599"/>
            <a:ext cx="504812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Ces limites sont connues et documentées pour une évolution future du système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59103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Perspectives d'Amélioration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38224"/>
            <a:ext cx="3552736" cy="1714500"/>
          </a:xfrm>
          <a:prstGeom prst="roundRect">
            <a:avLst>
              <a:gd name="adj" fmla="val 13333"/>
            </a:avLst>
          </a:prstGeom>
          <a:solidFill>
            <a:srgbClr val="28A745">
              <a:alpha val="10000"/>
            </a:srgbClr>
          </a:solidFill>
          <a:ln w="1651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229967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21" y="1209674"/>
            <a:ext cx="11143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Court Terme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1622168"/>
            <a:ext cx="171445" cy="146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1590675"/>
            <a:ext cx="11905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Alertes transactions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1893016"/>
            <a:ext cx="171445" cy="138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1857375"/>
            <a:ext cx="81912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Budgétisation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30" y="2156951"/>
            <a:ext cx="171445" cy="143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674" y="2124075"/>
            <a:ext cx="104772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Objectifs épargne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030" y="2429182"/>
            <a:ext cx="171445" cy="132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2390774"/>
            <a:ext cx="10381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Export CSV/Excel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4717" y="1038224"/>
            <a:ext cx="3552736" cy="1714500"/>
          </a:xfrm>
          <a:prstGeom prst="roundRect">
            <a:avLst>
              <a:gd name="adj" fmla="val 13333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6162" y="1229967"/>
            <a:ext cx="266693" cy="2261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9054" y="1209674"/>
            <a:ext cx="12191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Moyen Terme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6162" y="1615255"/>
            <a:ext cx="171445" cy="1603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33806" y="1590675"/>
            <a:ext cx="152396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App Mobile (iOS/Android)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86162" y="1881955"/>
            <a:ext cx="171445" cy="1603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33806" y="1857375"/>
            <a:ext cx="56196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API REST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86162" y="2148655"/>
            <a:ext cx="171445" cy="1603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33806" y="2124075"/>
            <a:ext cx="7905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Multi-devises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86162" y="2429182"/>
            <a:ext cx="171445" cy="1327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33806" y="2390774"/>
            <a:ext cx="10667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Analytics avancés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9374" y="1038224"/>
            <a:ext cx="3552736" cy="1714500"/>
          </a:xfrm>
          <a:prstGeom prst="roundRect">
            <a:avLst>
              <a:gd name="adj" fmla="val 13333"/>
            </a:avLst>
          </a:prstGeom>
          <a:solidFill>
            <a:srgbClr val="9C27B0">
              <a:alpha val="10000"/>
            </a:srgbClr>
          </a:solidFill>
          <a:ln w="1651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200819" y="1231416"/>
            <a:ext cx="266693" cy="2232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43711" y="1209674"/>
            <a:ext cx="106677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Long Terme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00819" y="1626316"/>
            <a:ext cx="171445" cy="13826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48463" y="1590675"/>
            <a:ext cx="157158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IA suggestions financières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00819" y="1917904"/>
            <a:ext cx="171445" cy="8849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48463" y="1857375"/>
            <a:ext cx="125726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Blockchain sécurisée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200819" y="2145890"/>
            <a:ext cx="171445" cy="16591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48463" y="2124075"/>
            <a:ext cx="81912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Open Banking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00819" y="2423651"/>
            <a:ext cx="171445" cy="1437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48463" y="2390774"/>
            <a:ext cx="13906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Reconnaissance vocale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2905124"/>
            <a:ext cx="10972525" cy="1200150"/>
          </a:xfrm>
          <a:prstGeom prst="roundRect">
            <a:avLst>
              <a:gd name="adj" fmla="val 1904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71505" y="3087342"/>
            <a:ext cx="266693" cy="2261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4397" y="3067050"/>
            <a:ext cx="25431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Améliorations Techniques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71505" y="3473263"/>
            <a:ext cx="190495" cy="1400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38199" y="3448049"/>
            <a:ext cx="11620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Cache des données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467013" y="3529323"/>
            <a:ext cx="190495" cy="2795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733706" y="3448049"/>
            <a:ext cx="150491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Base MySQL/PostgreSQL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152996" y="3453652"/>
            <a:ext cx="190495" cy="1792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19689" y="3448049"/>
            <a:ext cx="14382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Opérations asynchrones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838979" y="3457855"/>
            <a:ext cx="190495" cy="17088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05672" y="3448049"/>
            <a:ext cx="11620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Chiffrement avancé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71505" y="3758452"/>
            <a:ext cx="190495" cy="1792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38199" y="3752849"/>
            <a:ext cx="120011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2FA Authentification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467013" y="3823359"/>
            <a:ext cx="190495" cy="494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733706" y="3752849"/>
            <a:ext cx="85722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CI/CD Pipeline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152996" y="3758452"/>
            <a:ext cx="190495" cy="1792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19689" y="3752849"/>
            <a:ext cx="114297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Docker/Kubernetes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838979" y="3778063"/>
            <a:ext cx="190495" cy="14007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05672" y="3752849"/>
            <a:ext cx="130489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Monitoring temps réel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9584" y="4257675"/>
            <a:ext cx="5410064" cy="476249"/>
          </a:xfrm>
          <a:prstGeom prst="roundRect">
            <a:avLst>
              <a:gd name="adj" fmla="val 48000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33406" y="4432935"/>
            <a:ext cx="228594" cy="12572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38199" y="4381499"/>
            <a:ext cx="168588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Roadmap d'Évolution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76738" y="44386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629134" y="44386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781530" y="44386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172045" y="4257675"/>
            <a:ext cx="5410064" cy="476249"/>
          </a:xfrm>
          <a:prstGeom prst="roundRect">
            <a:avLst>
              <a:gd name="adj" fmla="val 48000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295867" y="4387215"/>
            <a:ext cx="228594" cy="21717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00659" y="4381499"/>
            <a:ext cx="160968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Innovation Continue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691497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Organisation du Travail en Binôme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38224"/>
            <a:ext cx="4295667" cy="2667000"/>
          </a:xfrm>
          <a:prstGeom prst="roundRect">
            <a:avLst>
              <a:gd name="adj" fmla="val 8571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365687"/>
            <a:ext cx="342891" cy="18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17" y="1304925"/>
            <a:ext cx="158111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Notre Équipe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28" y="185737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2003107"/>
            <a:ext cx="228594" cy="165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6813" y="1857375"/>
            <a:ext cx="10572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Mr Wail Anaia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13" y="2124075"/>
            <a:ext cx="105724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Étudiant DWM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246697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2612707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6813" y="2466975"/>
            <a:ext cx="15334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Mr Yasser Oussahel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13" y="2733674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Étudiant DWM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857625"/>
            <a:ext cx="4295667" cy="2524125"/>
          </a:xfrm>
          <a:prstGeom prst="roundRect">
            <a:avLst>
              <a:gd name="adj" fmla="val 905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4086639"/>
            <a:ext cx="266693" cy="2087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496" y="4057650"/>
            <a:ext cx="217164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Avantages du Binôme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4515410"/>
            <a:ext cx="190495" cy="1512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4397" y="4476750"/>
            <a:ext cx="241928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Complémentarité des compétences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604" y="4855508"/>
            <a:ext cx="190495" cy="1568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4397" y="4819650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Répartition de charge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604" y="5190004"/>
            <a:ext cx="190495" cy="1736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4397" y="5162550"/>
            <a:ext cx="15525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Qualité du code accrue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04" y="554971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4397" y="5505450"/>
            <a:ext cx="148586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Apprentissage mutuel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9604" y="5887010"/>
            <a:ext cx="190495" cy="1512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4397" y="5848350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Support et motivation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33846" y="1038224"/>
            <a:ext cx="6448263" cy="1847849"/>
          </a:xfrm>
          <a:prstGeom prst="roundRect">
            <a:avLst>
              <a:gd name="adj" fmla="val 1237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33866" y="1262890"/>
            <a:ext cx="266693" cy="2174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76758" y="1238249"/>
            <a:ext cx="22478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Répartition des Tâches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3866" y="16573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57688" y="1695449"/>
            <a:ext cx="5714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2956" y="1657350"/>
            <a:ext cx="20478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Conception commune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52956" y="1924049"/>
            <a:ext cx="204782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Architecture MVC, Design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9889" y="16573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24661" y="1695449"/>
            <a:ext cx="857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8979" y="1657350"/>
            <a:ext cx="23335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Implémentation séparée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8979" y="1924049"/>
            <a:ext cx="23335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Modules distincts, couverture complète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3866" y="22288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38639" y="2266950"/>
            <a:ext cx="857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2956" y="2228850"/>
            <a:ext cx="22287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Tests collaboratifs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52956" y="2495550"/>
            <a:ext cx="22287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Validation croisée des fonctionnalités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9889" y="22288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15137" y="2266950"/>
            <a:ext cx="1047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8979" y="2228850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Documentation partagée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8979" y="2495550"/>
            <a:ext cx="19240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Rapports communs, Wiki GitHub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33846" y="3038475"/>
            <a:ext cx="6448263" cy="188595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33866" y="3242848"/>
            <a:ext cx="266693" cy="25800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76758" y="3238500"/>
            <a:ext cx="22478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Outils de Collaboration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33866" y="3657600"/>
            <a:ext cx="1943051" cy="1066799"/>
          </a:xfrm>
          <a:prstGeom prst="roundRect">
            <a:avLst>
              <a:gd name="adj" fmla="val 14285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52996" y="3842238"/>
            <a:ext cx="304792" cy="16412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210144" y="4152899"/>
            <a:ext cx="1904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Git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24361" y="4419600"/>
            <a:ext cx="157158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Versioning &amp; Collaboration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91215" y="3657600"/>
            <a:ext cx="1943051" cy="1066799"/>
          </a:xfrm>
          <a:prstGeom prst="roundRect">
            <a:avLst>
              <a:gd name="adj" fmla="val 14285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10344" y="3795346"/>
            <a:ext cx="304792" cy="2579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819829" y="4152899"/>
            <a:ext cx="10858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Communication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6482" y="4419600"/>
            <a:ext cx="13334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Discussions régulières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39039" y="3657600"/>
            <a:ext cx="1943051" cy="1066799"/>
          </a:xfrm>
          <a:prstGeom prst="roundRect">
            <a:avLst>
              <a:gd name="adj" fmla="val 14285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258168" y="3913302"/>
            <a:ext cx="304792" cy="2199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010524" y="4152899"/>
            <a:ext cx="80960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Revue Code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554" y="4419600"/>
            <a:ext cx="117154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Qualité &amp; Standards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33846" y="5076825"/>
            <a:ext cx="6448263" cy="704849"/>
          </a:xfrm>
          <a:prstGeom prst="roundRect">
            <a:avLst>
              <a:gd name="adj" fmla="val 32432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295767" y="5340667"/>
            <a:ext cx="228594" cy="17716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600559" y="5295899"/>
            <a:ext cx="25716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Succès du Travail Collaboratif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43691" y="5238749"/>
            <a:ext cx="1485862" cy="380999"/>
          </a:xfrm>
          <a:prstGeom prst="roundRect">
            <a:avLst>
              <a:gd name="adj" fmla="val 40000"/>
            </a:avLst>
          </a:prstGeom>
          <a:solidFill>
            <a:srgbClr val="28A74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96087" y="5314950"/>
            <a:ext cx="118107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100% fonctionnel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05752" y="5238749"/>
            <a:ext cx="1514437" cy="380999"/>
          </a:xfrm>
          <a:prstGeom prst="roundRect">
            <a:avLst>
              <a:gd name="adj" fmla="val 40000"/>
            </a:avLst>
          </a:prstGeom>
          <a:solidFill>
            <a:srgbClr val="28A74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58148" y="5314950"/>
            <a:ext cx="12096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Architecture MVC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87677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Conclusion &amp; Remerciements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5371965" cy="2457450"/>
          </a:xfrm>
          <a:prstGeom prst="roundRect">
            <a:avLst>
              <a:gd name="adj" fmla="val 930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337896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694" y="1314450"/>
            <a:ext cx="178113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Bilan du Projet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1785657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397" y="1771650"/>
            <a:ext cx="179065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Fonctionnalités complètes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2128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397" y="2114550"/>
            <a:ext cx="174303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Architecture MVC robuste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24714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2457450"/>
            <a:ext cx="19621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Interface utilisateur utilisable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28143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4397" y="2800350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Code maintenable et testé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315725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4397" y="3143250"/>
            <a:ext cx="224784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Gestion complète des exceptions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762374"/>
            <a:ext cx="5371965" cy="165735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3997569"/>
            <a:ext cx="304792" cy="2344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8694" y="3962399"/>
            <a:ext cx="326699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Compétences Développées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446162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6298" y="4419600"/>
            <a:ext cx="10096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Conception objet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2716" y="443360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19409" y="4419600"/>
            <a:ext cx="6762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Java Swing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604" y="474401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6298" y="4724399"/>
            <a:ext cx="10096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Gestion de projet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2716" y="4741208"/>
            <a:ext cx="190495" cy="1568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19409" y="4724399"/>
            <a:ext cx="129536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Résolution problèmes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9604" y="50432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6298" y="5029200"/>
            <a:ext cx="9143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Documentation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52716" y="5041806"/>
            <a:ext cx="190495" cy="16528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19409" y="5029200"/>
            <a:ext cx="13239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Méthodologie itérative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1114425"/>
            <a:ext cx="5371965" cy="2476499"/>
          </a:xfrm>
          <a:prstGeom prst="roundRect">
            <a:avLst>
              <a:gd name="adj" fmla="val 9230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57788" y="1399025"/>
            <a:ext cx="342891" cy="268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14977" y="1381124"/>
            <a:ext cx="190495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Remerciements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7788" y="1895474"/>
            <a:ext cx="487667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Nous tenons à exprimer notre profonde gratitude envers 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57788" y="2238375"/>
            <a:ext cx="4876678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10184" y="2441257"/>
            <a:ext cx="228594" cy="16573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14977" y="2390774"/>
            <a:ext cx="1800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</a:rPr>
              <a:t>Pr. Abdelaaziz Hessane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0184" y="2733674"/>
            <a:ext cx="4571885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Pour son accompagnement, ses conseils précieux et son encadrement pédagogique tout au long de ce projet.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144" y="3781424"/>
            <a:ext cx="5371965" cy="1724024"/>
          </a:xfrm>
          <a:prstGeom prst="roundRect">
            <a:avLst>
              <a:gd name="adj" fmla="val 132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10164" y="4060580"/>
            <a:ext cx="304792" cy="14653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67353" y="3981449"/>
            <a:ext cx="451473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"Un programme est un poème dont chaque ligne doit être parfaite."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7353" y="4629150"/>
            <a:ext cx="451473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— Anonyme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0144" y="5695949"/>
            <a:ext cx="5371965" cy="857250"/>
          </a:xfrm>
          <a:prstGeom prst="roundRect">
            <a:avLst>
              <a:gd name="adj" fmla="val 26666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72065" y="6027419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76858" y="5857875"/>
            <a:ext cx="3066973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Projet réalisé avec rigueur et passion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43831" y="5991225"/>
            <a:ext cx="514337" cy="266699"/>
          </a:xfrm>
          <a:prstGeom prst="roundRect">
            <a:avLst>
              <a:gd name="adj" fmla="val 57142"/>
            </a:avLst>
          </a:prstGeom>
          <a:solidFill>
            <a:srgbClr val="28A74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58128" y="6029325"/>
            <a:ext cx="2857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Java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24841" y="5991225"/>
            <a:ext cx="514337" cy="266699"/>
          </a:xfrm>
          <a:prstGeom prst="roundRect">
            <a:avLst>
              <a:gd name="adj" fmla="val 57142"/>
            </a:avLst>
          </a:prstGeom>
          <a:solidFill>
            <a:srgbClr val="28A74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39139" y="6029325"/>
            <a:ext cx="2857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MVC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24901" y="5991225"/>
            <a:ext cx="495287" cy="266699"/>
          </a:xfrm>
          <a:prstGeom prst="roundRect">
            <a:avLst>
              <a:gd name="adj" fmla="val 57142"/>
            </a:avLst>
          </a:prstGeom>
          <a:solidFill>
            <a:srgbClr val="28A74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039199" y="6029325"/>
            <a:ext cx="2666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</a:rPr>
              <a:t>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1311</Words>
  <Application>Microsoft Office PowerPoint</Application>
  <PresentationFormat>Widescreen</PresentationFormat>
  <Paragraphs>433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Yasser Oussahel</cp:lastModifiedBy>
  <cp:revision>2</cp:revision>
  <dcterms:created xsi:type="dcterms:W3CDTF">2013-01-27T09:14:16Z</dcterms:created>
  <dcterms:modified xsi:type="dcterms:W3CDTF">2026-02-02T13:30:36Z</dcterms:modified>
  <cp:category/>
</cp:coreProperties>
</file>